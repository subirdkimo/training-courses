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C2: RAG pipeline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Wrap up C2, hand-off to C3.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工具鏈訓練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26060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 2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548640" y="3657600"/>
            <a:ext cx="5029200" cy="502920"/>
          </a:xfrm>
          <a:prstGeom prst="roundRect">
            <a:avLst>
              <a:gd name="adj" fmla="val 18182"/>
            </a:avLst>
          </a:prstGeom>
          <a:solidFill>
            <a:srgbClr val="FF730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65760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基礎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4297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hr ｜ 切塊 / Embedding / 向量庫 / 檢索 / 評估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B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FF73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全流程圖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046720" y="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14400" y="914400"/>
            <a:ext cx="7315200" cy="502920"/>
          </a:xfrm>
          <a:prstGeom prst="roundRect">
            <a:avLst>
              <a:gd name="adj" fmla="val 14545"/>
            </a:avLst>
          </a:prstGeom>
          <a:solidFill>
            <a:srgbClr val="EAF1FF"/>
          </a:solidFill>
          <a:ln w="6350">
            <a:solidFill>
              <a:srgbClr val="326C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91440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文件 → 切塊　——　依結構/語義切 chunk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389120" y="137160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7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14400" y="1627632"/>
            <a:ext cx="7315200" cy="502920"/>
          </a:xfrm>
          <a:prstGeom prst="roundRect">
            <a:avLst>
              <a:gd name="adj" fmla="val 14545"/>
            </a:avLst>
          </a:prstGeom>
          <a:solidFill>
            <a:srgbClr val="F3F6FC"/>
          </a:solidFill>
          <a:ln w="6350">
            <a:solidFill>
              <a:srgbClr val="326C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1627632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　——　文字 → 向量（數字陣列）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389120" y="208483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7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14400" y="2340864"/>
            <a:ext cx="7315200" cy="502920"/>
          </a:xfrm>
          <a:prstGeom prst="roundRect">
            <a:avLst>
              <a:gd name="adj" fmla="val 14545"/>
            </a:avLst>
          </a:prstGeom>
          <a:solidFill>
            <a:srgbClr val="EAF1FF"/>
          </a:solidFill>
          <a:ln w="6350">
            <a:solidFill>
              <a:srgbClr val="326C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2340864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存向量庫　——　Chroma / PgVector / Qdrant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389120" y="279806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7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14400" y="3054096"/>
            <a:ext cx="7315200" cy="502920"/>
          </a:xfrm>
          <a:prstGeom prst="roundRect">
            <a:avLst>
              <a:gd name="adj" fmla="val 14545"/>
            </a:avLst>
          </a:prstGeom>
          <a:solidFill>
            <a:srgbClr val="F3F6FC"/>
          </a:solidFill>
          <a:ln w="6350">
            <a:solidFill>
              <a:srgbClr val="326C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7280" y="3054096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問題 → 檢索 top-k　——　相似度排序取 top-k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389120" y="351129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7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14400" y="3767328"/>
            <a:ext cx="7315200" cy="502920"/>
          </a:xfrm>
          <a:prstGeom prst="roundRect">
            <a:avLst>
              <a:gd name="adj" fmla="val 14545"/>
            </a:avLst>
          </a:prstGeom>
          <a:solidFill>
            <a:srgbClr val="EAF1FF"/>
          </a:solidFill>
          <a:ln w="6350">
            <a:solidFill>
              <a:srgbClr val="326C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3767328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組 prompt → LLM　——　片段 + 問題 → answer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EAF1FF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7777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五個關鍵決策：chunk 多大 / 哪個 embedding / 向量庫 / top-k / prompt 怎麼組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B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FF73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切塊策略（Chunking）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046720" y="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4023360" cy="2011680"/>
          </a:xfrm>
          <a:prstGeom prst="roundRect">
            <a:avLst>
              <a:gd name="adj" fmla="val 2727"/>
            </a:avLst>
          </a:prstGeom>
          <a:solidFill>
            <a:srgbClr val="F3F6FC"/>
          </a:solidFill>
          <a:ln w="9525">
            <a:solidFill>
              <a:srgbClr val="D8E0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6656" y="1188720"/>
            <a:ext cx="310896" cy="310896"/>
          </a:xfrm>
          <a:prstGeom prst="ellipse">
            <a:avLst/>
          </a:prstGeom>
          <a:solidFill>
            <a:srgbClr val="FF7300"/>
          </a:solidFill>
          <a:ln/>
        </p:spPr>
      </p:sp>
      <p:sp>
        <p:nvSpPr>
          <p:cNvPr id="8" name="Text 6"/>
          <p:cNvSpPr/>
          <p:nvPr/>
        </p:nvSpPr>
        <p:spPr>
          <a:xfrm>
            <a:off x="1115568" y="1133856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Chunk Size &amp; Overlap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13232" y="1627632"/>
            <a:ext cx="351129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建議 200–800 token（依文件類型）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 10–20% 避免斷裂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語義切塊 &gt; 固定長度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663440" y="1005840"/>
            <a:ext cx="4023360" cy="2011680"/>
          </a:xfrm>
          <a:prstGeom prst="roundRect">
            <a:avLst>
              <a:gd name="adj" fmla="val 2727"/>
            </a:avLst>
          </a:prstGeom>
          <a:solidFill>
            <a:srgbClr val="F3F6FC"/>
          </a:solidFill>
          <a:ln w="9525">
            <a:solidFill>
              <a:srgbClr val="D8E0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82896" y="1188720"/>
            <a:ext cx="310896" cy="310896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12" name="Text 10"/>
          <p:cNvSpPr/>
          <p:nvPr/>
        </p:nvSpPr>
        <p:spPr>
          <a:xfrm>
            <a:off x="5321808" y="1133856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三種切法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19472" y="1627632"/>
            <a:ext cx="351129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固定長度：簡單但切碎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依結構（markdown/段落）：最划算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語義斷點：最優但貴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329184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EAF1FF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36499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7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心智模型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363931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= 圖書館的書頁。切太碎 = 查得到字組不成句；切太大 = 翻到那頁要讀半小時。目標 = 一頁講一件事。生產建議先依結構切，效果不夠再上語義。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EAF1FF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47777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檢索精度 × 成本 × 品質 = 三角取捨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B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FF73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Embedding 模型選擇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046720" y="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4023360" cy="1828800"/>
          </a:xfrm>
          <a:prstGeom prst="roundRect">
            <a:avLst>
              <a:gd name="adj" fmla="val 3000"/>
            </a:avLst>
          </a:prstGeom>
          <a:solidFill>
            <a:srgbClr val="F3F6FC"/>
          </a:solidFill>
          <a:ln w="9525">
            <a:solidFill>
              <a:srgbClr val="D8E0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6656" y="1188720"/>
            <a:ext cx="310896" cy="310896"/>
          </a:xfrm>
          <a:prstGeom prst="ellipse">
            <a:avLst/>
          </a:prstGeom>
          <a:solidFill>
            <a:srgbClr val="FF7300"/>
          </a:solidFill>
          <a:ln/>
        </p:spPr>
      </p:sp>
      <p:sp>
        <p:nvSpPr>
          <p:cNvPr id="8" name="Text 6"/>
          <p:cNvSpPr/>
          <p:nvPr/>
        </p:nvSpPr>
        <p:spPr>
          <a:xfrm>
            <a:off x="1115568" y="1133856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text-embedding-3-small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13232" y="1627632"/>
            <a:ext cx="35112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1536 維、成本低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課程主用、跨語言尚可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663440" y="1005840"/>
            <a:ext cx="4023360" cy="1828800"/>
          </a:xfrm>
          <a:prstGeom prst="roundRect">
            <a:avLst>
              <a:gd name="adj" fmla="val 3000"/>
            </a:avLst>
          </a:prstGeom>
          <a:solidFill>
            <a:srgbClr val="F3F6FC"/>
          </a:solidFill>
          <a:ln w="9525">
            <a:solidFill>
              <a:srgbClr val="D8E0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82896" y="1188720"/>
            <a:ext cx="310896" cy="310896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12" name="Text 10"/>
          <p:cNvSpPr/>
          <p:nvPr/>
        </p:nvSpPr>
        <p:spPr>
          <a:xfrm>
            <a:off x="5321808" y="1133856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text-embedding-3-large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19472" y="1627632"/>
            <a:ext cx="35112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3072 維、成本約 2 倍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召回要求高時用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3017520"/>
            <a:ext cx="4023360" cy="1280160"/>
          </a:xfrm>
          <a:prstGeom prst="roundRect">
            <a:avLst>
              <a:gd name="adj" fmla="val 4286"/>
            </a:avLst>
          </a:prstGeom>
          <a:solidFill>
            <a:srgbClr val="F3F6FC"/>
          </a:solidFill>
          <a:ln w="9525">
            <a:solidFill>
              <a:srgbClr val="D8E0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76656" y="3200400"/>
            <a:ext cx="310896" cy="310896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16" name="Text 14"/>
          <p:cNvSpPr/>
          <p:nvPr/>
        </p:nvSpPr>
        <p:spPr>
          <a:xfrm>
            <a:off x="1115568" y="3145536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BGE-m3（本地）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13232" y="3639312"/>
            <a:ext cx="35112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1024 維、自架免費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內網/多語/長文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663440" y="3017520"/>
            <a:ext cx="4023360" cy="1280160"/>
          </a:xfrm>
          <a:prstGeom prst="roundRect">
            <a:avLst>
              <a:gd name="adj" fmla="val 4286"/>
            </a:avLst>
          </a:prstGeom>
          <a:solidFill>
            <a:srgbClr val="F3F6FC"/>
          </a:solidFill>
          <a:ln w="9525">
            <a:solidFill>
              <a:srgbClr val="D8E0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82896" y="3200400"/>
            <a:ext cx="310896" cy="310896"/>
          </a:xfrm>
          <a:prstGeom prst="ellipse">
            <a:avLst/>
          </a:prstGeom>
          <a:solidFill>
            <a:srgbClr val="FF7300"/>
          </a:solidFill>
          <a:ln/>
        </p:spPr>
      </p:sp>
      <p:sp>
        <p:nvSpPr>
          <p:cNvPr id="20" name="Text 18"/>
          <p:cNvSpPr/>
          <p:nvPr/>
        </p:nvSpPr>
        <p:spPr>
          <a:xfrm>
            <a:off x="5321808" y="3145536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原則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919472" y="3639312"/>
            <a:ext cx="35112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檢索與儲存要同一套 embedding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不能存 A 套、查 B 套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EAF1FF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7777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= 把意思翻成坐標，選對坐標系比較才有意義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B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FF73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向量庫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046720" y="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4023360" cy="1645920"/>
          </a:xfrm>
          <a:prstGeom prst="roundRect">
            <a:avLst>
              <a:gd name="adj" fmla="val 3333"/>
            </a:avLst>
          </a:prstGeom>
          <a:solidFill>
            <a:srgbClr val="F3F6FC"/>
          </a:solidFill>
          <a:ln w="9525">
            <a:solidFill>
              <a:srgbClr val="D8E0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6656" y="1188720"/>
            <a:ext cx="310896" cy="310896"/>
          </a:xfrm>
          <a:prstGeom prst="ellipse">
            <a:avLst/>
          </a:prstGeom>
          <a:solidFill>
            <a:srgbClr val="FF7300"/>
          </a:solidFill>
          <a:ln/>
        </p:spPr>
      </p:sp>
      <p:sp>
        <p:nvSpPr>
          <p:cNvPr id="8" name="Text 6"/>
          <p:cNvSpPr/>
          <p:nvPr/>
        </p:nvSpPr>
        <p:spPr>
          <a:xfrm>
            <a:off x="1115568" y="1133856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Chroma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13232" y="1627632"/>
            <a:ext cx="35112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純 Python、本地目錄、無 server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課程主用、原型、小量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663440" y="1005840"/>
            <a:ext cx="4023360" cy="1645920"/>
          </a:xfrm>
          <a:prstGeom prst="roundRect">
            <a:avLst>
              <a:gd name="adj" fmla="val 3333"/>
            </a:avLst>
          </a:prstGeom>
          <a:solidFill>
            <a:srgbClr val="F3F6FC"/>
          </a:solidFill>
          <a:ln w="9525">
            <a:solidFill>
              <a:srgbClr val="D8E0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82896" y="1188720"/>
            <a:ext cx="310896" cy="310896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12" name="Text 10"/>
          <p:cNvSpPr/>
          <p:nvPr/>
        </p:nvSpPr>
        <p:spPr>
          <a:xfrm>
            <a:off x="5321808" y="1133856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PgVector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19472" y="1627632"/>
            <a:ext cx="35112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擴充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生產、已用 PG 的場景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2834640"/>
            <a:ext cx="4023360" cy="1645920"/>
          </a:xfrm>
          <a:prstGeom prst="roundRect">
            <a:avLst>
              <a:gd name="adj" fmla="val 3333"/>
            </a:avLst>
          </a:prstGeom>
          <a:solidFill>
            <a:srgbClr val="F3F6FC"/>
          </a:solidFill>
          <a:ln w="9525">
            <a:solidFill>
              <a:srgbClr val="D8E0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76656" y="3017520"/>
            <a:ext cx="310896" cy="310896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16" name="Text 14"/>
          <p:cNvSpPr/>
          <p:nvPr/>
        </p:nvSpPr>
        <p:spPr>
          <a:xfrm>
            <a:off x="1115568" y="2962656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Qdrant / Milvus / Pinecone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13232" y="3456432"/>
            <a:ext cx="35112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獨立 service / SaaS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大量、多租、要 HA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4663440"/>
            <a:ext cx="8229600" cy="365760"/>
          </a:xfrm>
          <a:prstGeom prst="roundRect">
            <a:avLst>
              <a:gd name="adj" fmla="val 15000"/>
            </a:avLst>
          </a:prstGeom>
          <a:solidFill>
            <a:srgbClr val="EAF1FF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681728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選法：先簡單（Chroma），量大了再遷。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EAF1FF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7777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向量庫 = 以意搜書的圖書館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B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FF73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組 Prompt：檢索結果怎麼回灌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046720" y="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8229600" cy="2560320"/>
          </a:xfrm>
          <a:prstGeom prst="roundRect">
            <a:avLst>
              <a:gd name="adj" fmla="val 2857"/>
            </a:avLst>
          </a:prstGeom>
          <a:solidFill>
            <a:srgbClr val="1E293B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005840"/>
            <a:ext cx="7680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system: 你是知識庫問答器。只能依據【資料】回答；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資料沒有就說「我不確定」。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user: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【資料】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&lt;片段1&gt;…產品規格…&lt;/片段1&gt;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&lt;片段2&gt;…保修條款…&lt;/片段2&gt;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【問題】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{question}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365760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EAF1FF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730752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心智模型：檢索片段 = 參考書，prompt = 「告訴 LLM 只准翻這幾頁」。沒有限制 → LLM 拿自己（可能過期的）知識補 = 幻覺。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EAF1FF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47777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「只依據這些資料回答」= 減少幻覺的關鍵句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B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FF73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評估：Recall &amp; Faithfulness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046720" y="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4023360" cy="2011680"/>
          </a:xfrm>
          <a:prstGeom prst="roundRect">
            <a:avLst>
              <a:gd name="adj" fmla="val 2727"/>
            </a:avLst>
          </a:prstGeom>
          <a:solidFill>
            <a:srgbClr val="F3F6FC"/>
          </a:solidFill>
          <a:ln w="9525">
            <a:solidFill>
              <a:srgbClr val="D8E0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6656" y="1188720"/>
            <a:ext cx="310896" cy="310896"/>
          </a:xfrm>
          <a:prstGeom prst="ellipse">
            <a:avLst/>
          </a:prstGeom>
          <a:solidFill>
            <a:srgbClr val="FF7300"/>
          </a:solidFill>
          <a:ln/>
        </p:spPr>
      </p:sp>
      <p:sp>
        <p:nvSpPr>
          <p:cNvPr id="8" name="Text 6"/>
          <p:cNvSpPr/>
          <p:nvPr/>
        </p:nvSpPr>
        <p:spPr>
          <a:xfrm>
            <a:off x="1115568" y="1133856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Recall（召回）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13232" y="1627632"/>
            <a:ext cx="351129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相關片段有沒有被檢索到？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標準答案所在塊有沒有進 top-k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切塊/embedding 選錯 → Recall 低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663440" y="1005840"/>
            <a:ext cx="4023360" cy="2011680"/>
          </a:xfrm>
          <a:prstGeom prst="roundRect">
            <a:avLst>
              <a:gd name="adj" fmla="val 2727"/>
            </a:avLst>
          </a:prstGeom>
          <a:solidFill>
            <a:srgbClr val="F3F6FC"/>
          </a:solidFill>
          <a:ln w="9525">
            <a:solidFill>
              <a:srgbClr val="D8E0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82896" y="1188720"/>
            <a:ext cx="310896" cy="310896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12" name="Text 10"/>
          <p:cNvSpPr/>
          <p:nvPr/>
        </p:nvSpPr>
        <p:spPr>
          <a:xfrm>
            <a:off x="5321808" y="1133856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Faithfulness（忠實）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19472" y="1627632"/>
            <a:ext cx="351129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有沒有胡說（超出片段）？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人核/LLM 評：每句能否被片段支撐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檢索到了但 prompt 沒用好 → 低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329184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EAF1FF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364992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心智模型：RAG 品質 = 檢索分 × 生成分（乘法，不是加法）。檢索 0 分 → 再好的 LLM 也是 0；生成 0 分 → 再準的檢索也白費。分開測才知道哪半要修。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EAF1FF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47777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常見失敗：top-k 太小漏、太大稀釋 → 兩者皆中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B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FF73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C2 Lab 實作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046720" y="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097280"/>
            <a:ext cx="80467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準備 ≥10 段私域文件（markdown 皆可）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依結構切塊（含 overlap）→ text-embedding-3-small → 存 Chroma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 3–5 個測試問題跑檢索，看 top-3 有沒有命中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組 prompt 出 answer，核「只依據資料」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/ Faithfulness 簡評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57200" y="393192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EAF1F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98678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證據：檢索 top-3 截圖 + answer 截圖 + 資料集片段清單 → 回 mail 勾卡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EAF1FF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47777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回信即勾卡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2 · 完成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26060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下一步：Tool 呼叫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29260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讓 LLM 能「查資料」了。C3 讓它「做事」——function calling / tool calling。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Class 2 - RAG 基礎</dc:title>
  <dc:subject>PptxGenJS Presentation</dc:subject>
  <dc:creator>AI_assist</dc:creator>
  <cp:lastModifiedBy>AI_assist</cp:lastModifiedBy>
  <cp:revision>1</cp:revision>
  <dcterms:created xsi:type="dcterms:W3CDTF">2026-09-01T09:37:39Z</dcterms:created>
  <dcterms:modified xsi:type="dcterms:W3CDTF">2026-09-01T09:37:39Z</dcterms:modified>
</cp:coreProperties>
</file>